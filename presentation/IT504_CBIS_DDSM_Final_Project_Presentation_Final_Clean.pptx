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045"/>
                </a:solidFill>
              </a:rPr>
              <a:t>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2707F"/>
                </a:solidFill>
              </a:rPr>
              <a:t>Model-specific classification errors and false negatives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064240" cy="22860"/>
          </a:xfrm>
          <a:prstGeom prst="rect">
            <a:avLst/>
          </a:prstGeom>
          <a:solidFill>
            <a:srgbClr val="20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26679" y="6510528"/>
            <a:ext cx="402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87929E"/>
                </a:solidFill>
              </a:rPr>
              <a:t>IT504 Selected Topics • CBIS-DDSM Generative AI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4343400"/>
          </a:xfrm>
          <a:prstGeom prst="roundRect">
            <a:avLst/>
          </a:prstGeom>
          <a:solidFill>
            <a:srgbClr val="E5F1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>
              <a:spcBef>
                <a:spcPts val="400"/>
              </a:spcBef>
            </a:pPr>
            <a:endParaRPr sz="1100" dirty="0">
              <a:solidFill>
                <a:srgbClr val="1E2D3C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1193292"/>
            <a:ext cx="5303520" cy="4343400"/>
          </a:xfrm>
          <a:prstGeom prst="roundRect">
            <a:avLst/>
          </a:prstGeom>
          <a:solidFill>
            <a:srgbClr val="FFEED8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endParaRPr sz="1100" dirty="0">
              <a:solidFill>
                <a:srgbClr val="1E2D3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5806440"/>
            <a:ext cx="1042416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200" b="1">
                <a:solidFill>
                  <a:srgbClr val="20629D"/>
                </a:solidFill>
              </a:rPr>
              <a:t>Presentation note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D3C"/>
                </a:solidFill>
              </a:rPr>
              <a:t>False negatives are especially important in breast cancer classification because they represent missed malignant cases.</a:t>
            </a:r>
          </a:p>
        </p:txBody>
      </p:sp>
      <p:pic>
        <p:nvPicPr>
          <p:cNvPr id="9" name="صورة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23" y="1658676"/>
            <a:ext cx="2042399" cy="1867794"/>
          </a:xfrm>
          <a:prstGeom prst="rect">
            <a:avLst/>
          </a:prstGeom>
        </p:spPr>
      </p:pic>
      <p:pic>
        <p:nvPicPr>
          <p:cNvPr id="10" name="صورة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00" y="1624377"/>
            <a:ext cx="2027983" cy="1867794"/>
          </a:xfrm>
          <a:prstGeom prst="rect">
            <a:avLst/>
          </a:prstGeom>
        </p:spPr>
      </p:pic>
      <p:pic>
        <p:nvPicPr>
          <p:cNvPr id="11" name="صورة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23" y="3643232"/>
            <a:ext cx="2022081" cy="1817846"/>
          </a:xfrm>
          <a:prstGeom prst="rect">
            <a:avLst/>
          </a:prstGeom>
        </p:spPr>
      </p:pic>
      <p:pic>
        <p:nvPicPr>
          <p:cNvPr id="12" name="صورة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19" y="3606471"/>
            <a:ext cx="2013664" cy="1854607"/>
          </a:xfrm>
          <a:prstGeom prst="rect">
            <a:avLst/>
          </a:prstGeom>
        </p:spPr>
      </p:pic>
      <p:sp>
        <p:nvSpPr>
          <p:cNvPr id="13" name="مربع نص 12"/>
          <p:cNvSpPr txBox="1"/>
          <p:nvPr/>
        </p:nvSpPr>
        <p:spPr>
          <a:xfrm>
            <a:off x="1683690" y="1213886"/>
            <a:ext cx="309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629D"/>
                </a:solidFill>
              </a:rPr>
              <a:t>Model-A Confusion Matrices</a:t>
            </a:r>
          </a:p>
          <a:p>
            <a:endParaRPr lang="en-US" dirty="0"/>
          </a:p>
        </p:txBody>
      </p:sp>
      <p:sp>
        <p:nvSpPr>
          <p:cNvPr id="14" name="مربع نص 13"/>
          <p:cNvSpPr txBox="1"/>
          <p:nvPr/>
        </p:nvSpPr>
        <p:spPr>
          <a:xfrm>
            <a:off x="7369628" y="1234440"/>
            <a:ext cx="309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629D"/>
                </a:solidFill>
              </a:rPr>
              <a:t>Model-A Confusion Matrices</a:t>
            </a:r>
          </a:p>
          <a:p>
            <a:endParaRPr lang="en-US" dirty="0"/>
          </a:p>
        </p:txBody>
      </p:sp>
      <p:pic>
        <p:nvPicPr>
          <p:cNvPr id="19" name="صورة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854" y="1588057"/>
            <a:ext cx="2218211" cy="1875586"/>
          </a:xfrm>
          <a:prstGeom prst="rect">
            <a:avLst/>
          </a:prstGeom>
        </p:spPr>
      </p:pic>
      <p:pic>
        <p:nvPicPr>
          <p:cNvPr id="20" name="صورة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172" y="1587404"/>
            <a:ext cx="2198907" cy="1875586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140" y="3585492"/>
            <a:ext cx="2253599" cy="1875586"/>
          </a:xfrm>
          <a:prstGeom prst="rect">
            <a:avLst/>
          </a:prstGeom>
        </p:spPr>
      </p:pic>
      <p:pic>
        <p:nvPicPr>
          <p:cNvPr id="22" name="صورة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172" y="3575674"/>
            <a:ext cx="2198907" cy="18755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045"/>
                </a:solidFill>
              </a:rPr>
              <a:t>ROC and Precision–Recall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2707F"/>
                </a:solidFill>
              </a:rPr>
              <a:t>Separation ability and sensitivity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064240" cy="22860"/>
          </a:xfrm>
          <a:prstGeom prst="rect">
            <a:avLst/>
          </a:prstGeom>
          <a:solidFill>
            <a:srgbClr val="20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26679" y="6510528"/>
            <a:ext cx="402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87929E"/>
                </a:solidFill>
              </a:rPr>
              <a:t>IT504 Selected Topics • CBIS-DDSM Generative AI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27080" cy="2482595"/>
          </a:xfrm>
          <a:prstGeom prst="roundRect">
            <a:avLst/>
          </a:prstGeom>
          <a:solidFill>
            <a:srgbClr val="E5F1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endParaRPr sz="1200" b="1" dirty="0">
              <a:solidFill>
                <a:srgbClr val="20629D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5347" y="3785616"/>
            <a:ext cx="10923037" cy="2279282"/>
          </a:xfrm>
          <a:prstGeom prst="roundRect">
            <a:avLst/>
          </a:prstGeom>
          <a:solidFill>
            <a:srgbClr val="FFEED8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endParaRPr sz="1100" dirty="0">
              <a:solidFill>
                <a:srgbClr val="1E2D3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43000" y="6199881"/>
            <a:ext cx="1042416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200" b="1" dirty="0">
                <a:solidFill>
                  <a:srgbClr val="20629D"/>
                </a:solidFill>
              </a:rPr>
              <a:t>Key interpretation</a:t>
            </a: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1E2D3C"/>
                </a:solidFill>
              </a:rPr>
              <a:t>VAE augmentation changed model behavior, but did not consistently improve all metrics across all classifiers.</a:t>
            </a:r>
          </a:p>
        </p:txBody>
      </p:sp>
      <p:pic>
        <p:nvPicPr>
          <p:cNvPr id="15" name="صورة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14" y="1402450"/>
            <a:ext cx="3006516" cy="2245373"/>
          </a:xfrm>
          <a:prstGeom prst="rect">
            <a:avLst/>
          </a:prstGeom>
        </p:spPr>
      </p:pic>
      <p:pic>
        <p:nvPicPr>
          <p:cNvPr id="17" name="صورة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985" y="1402450"/>
            <a:ext cx="3006516" cy="2245373"/>
          </a:xfrm>
          <a:prstGeom prst="rect">
            <a:avLst/>
          </a:prstGeom>
        </p:spPr>
      </p:pic>
      <p:pic>
        <p:nvPicPr>
          <p:cNvPr id="19" name="صورة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85" y="3812979"/>
            <a:ext cx="2978643" cy="2224556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214" y="3788097"/>
            <a:ext cx="3006516" cy="2245373"/>
          </a:xfrm>
          <a:prstGeom prst="rect">
            <a:avLst/>
          </a:prstGeom>
        </p:spPr>
      </p:pic>
      <p:sp>
        <p:nvSpPr>
          <p:cNvPr id="22" name="مربع نص 21"/>
          <p:cNvSpPr txBox="1"/>
          <p:nvPr/>
        </p:nvSpPr>
        <p:spPr>
          <a:xfrm>
            <a:off x="4797334" y="4726117"/>
            <a:ext cx="261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Precision-Recall </a:t>
            </a:r>
            <a:r>
              <a:rPr lang="en-US" dirty="0" err="1" smtClean="0">
                <a:solidFill>
                  <a:schemeClr val="tx2"/>
                </a:solidFill>
              </a:rPr>
              <a:t>CurveS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مربع نص 23"/>
          <p:cNvSpPr txBox="1"/>
          <p:nvPr/>
        </p:nvSpPr>
        <p:spPr>
          <a:xfrm>
            <a:off x="4911012" y="2254898"/>
            <a:ext cx="261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ROC CURVES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045"/>
                </a:solidFill>
              </a:rPr>
              <a:t>Single Image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2707F"/>
                </a:solidFill>
              </a:rPr>
              <a:t>Example prediction on one selected/random test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064240" cy="22860"/>
          </a:xfrm>
          <a:prstGeom prst="rect">
            <a:avLst/>
          </a:prstGeom>
          <a:solidFill>
            <a:srgbClr val="20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26679" y="6510528"/>
            <a:ext cx="402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87929E"/>
                </a:solidFill>
              </a:rPr>
              <a:t>IT504 Selected Topics • CBIS-DDSM Generative AI Augmentation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40"/>
            <a:ext cx="4800600" cy="55025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0" y="1325880"/>
            <a:ext cx="5486400" cy="3291840"/>
          </a:xfrm>
          <a:prstGeom prst="roundRect">
            <a:avLst/>
          </a:prstGeom>
          <a:solidFill>
            <a:srgbClr val="E5F1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endParaRPr sz="1200" b="1" dirty="0">
              <a:solidFill>
                <a:srgbClr val="20629D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0" y="4892040"/>
            <a:ext cx="5486400" cy="960120"/>
          </a:xfrm>
          <a:prstGeom prst="roundRect">
            <a:avLst/>
          </a:prstGeom>
          <a:solidFill>
            <a:srgbClr val="FFEED8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200" b="1">
                <a:solidFill>
                  <a:srgbClr val="20629D"/>
                </a:solidFill>
              </a:rPr>
              <a:t>Interpretation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D3C"/>
                </a:solidFill>
              </a:rPr>
              <a:t>This is an educational model output, not a medical diagnosis. The selected image is classified as Benign or Malignant based on model probabilities and the selected threshold.</a:t>
            </a:r>
          </a:p>
        </p:txBody>
      </p:sp>
      <p:graphicFrame>
        <p:nvGraphicFramePr>
          <p:cNvPr id="10" name="جدول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210352"/>
              </p:ext>
            </p:extLst>
          </p:nvPr>
        </p:nvGraphicFramePr>
        <p:xfrm>
          <a:off x="5897880" y="2157984"/>
          <a:ext cx="5349240" cy="201168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333812282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77790148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87779845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Prediction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Malignant Prob.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71112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SVM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Malignant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0.67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74762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Decision Tree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Malignant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3299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Benign</a:t>
                      </a:r>
                      <a:endParaRPr lang="en-US" sz="1050" dirty="0" smtClean="0"/>
                    </a:p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0.48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7061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Naive Bayes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Malignant</a:t>
                      </a:r>
                      <a:endParaRPr lang="en-US" sz="1050" dirty="0" smtClean="0"/>
                    </a:p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smtClean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1368"/>
                  </a:ext>
                </a:extLst>
              </a:tr>
            </a:tbl>
          </a:graphicData>
        </a:graphic>
      </p:graphicFrame>
      <p:sp>
        <p:nvSpPr>
          <p:cNvPr id="11" name="مربع نص 10"/>
          <p:cNvSpPr txBox="1"/>
          <p:nvPr/>
        </p:nvSpPr>
        <p:spPr>
          <a:xfrm>
            <a:off x="6817567" y="1335024"/>
            <a:ext cx="32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0629D"/>
                </a:solidFill>
              </a:rPr>
              <a:t>Prediction table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045"/>
                </a:solidFill>
              </a:rPr>
              <a:t>Explainability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2707F"/>
                </a:solidFill>
              </a:rPr>
              <a:t>Occlusion-sensitivity red overlay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064240" cy="22860"/>
          </a:xfrm>
          <a:prstGeom prst="rect">
            <a:avLst/>
          </a:prstGeom>
          <a:solidFill>
            <a:srgbClr val="20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26679" y="6510528"/>
            <a:ext cx="402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87929E"/>
                </a:solidFill>
              </a:rPr>
              <a:t>IT504 Selected Topics • CBIS-DDSM Generative AI Augmentation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863840" cy="27651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823960" y="1417320"/>
            <a:ext cx="2651760" cy="2834640"/>
          </a:xfrm>
          <a:prstGeom prst="roundRect">
            <a:avLst/>
          </a:prstGeom>
          <a:solidFill>
            <a:srgbClr val="E5F1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200" b="1">
                <a:solidFill>
                  <a:srgbClr val="20629D"/>
                </a:solidFill>
              </a:rPr>
              <a:t>How it works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D3C"/>
                </a:solidFill>
              </a:rPr>
              <a:t>Small image patches are hidden one by one. If hiding a region reduces the malignant probability, that region is highlighted as influential.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526280"/>
            <a:ext cx="2651760" cy="1508760"/>
          </a:xfrm>
          <a:prstGeom prst="roundRect">
            <a:avLst/>
          </a:prstGeom>
          <a:solidFill>
            <a:srgbClr val="FFEED8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200" b="1">
                <a:solidFill>
                  <a:srgbClr val="20629D"/>
                </a:solidFill>
              </a:rPr>
              <a:t>Important limitation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D3C"/>
                </a:solidFill>
              </a:rPr>
              <a:t>The red overlay is not clinical tumor segmentation. It only shows regions that influenced the classifier prediction.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213</Words>
  <Application>Microsoft Office PowerPoint</Application>
  <PresentationFormat>شاشة عريضة</PresentationFormat>
  <Paragraphs>42</Paragraphs>
  <Slides>25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هيثم heemoo</cp:lastModifiedBy>
  <cp:revision>3</cp:revision>
  <dcterms:created xsi:type="dcterms:W3CDTF">2013-01-27T09:14:16Z</dcterms:created>
  <dcterms:modified xsi:type="dcterms:W3CDTF">2026-06-02T23:13:52Z</dcterms:modified>
  <cp:category/>
</cp:coreProperties>
</file>